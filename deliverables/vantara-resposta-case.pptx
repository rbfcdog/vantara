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9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38912"/>
            <a:ext cx="10058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850" b="1">
                <a:solidFill>
                  <a:srgbClr val="FFFFFF"/>
                </a:solidFill>
                <a:latin typeface="Noto Sans"/>
              </a:defRPr>
            </a:pPr>
            <a:r>
              <a:t>RESPOSTA APLICADA · OUTUBRO DE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1847088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4500" b="1">
                <a:solidFill>
                  <a:srgbClr val="FFFFFF"/>
                </a:solidFill>
                <a:latin typeface="Noto Sans"/>
              </a:defRPr>
            </a:pPr>
            <a:r>
              <a:t>Case Vantara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" y="2852928"/>
            <a:ext cx="10058400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FFFFFF"/>
                </a:solidFill>
                <a:latin typeface="Noto Sans"/>
              </a:defRPr>
            </a:pPr>
            <a:r>
              <a:t>Da planilha à decisão rastreável.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" y="4270248"/>
            <a:ext cx="685800" cy="41148"/>
          </a:xfrm>
          <a:prstGeom prst="rect">
            <a:avLst/>
          </a:prstGeom>
          <a:solidFill>
            <a:srgbClr val="C41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0936" y="4690872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B7BBBC"/>
                </a:solidFill>
                <a:latin typeface="Noto Sans"/>
              </a:defRPr>
            </a:pPr>
            <a:r>
              <a:t>Resolução assistida em recebíveis  ·  Demonstração sobre dados sintéticos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6556248"/>
            <a:ext cx="36576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  <a:latin typeface="Noto Sans"/>
              </a:defRPr>
            </a:pPr>
            <a:r>
              <a:t>VANTARA / AI SERVICES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29800" y="6547104"/>
            <a:ext cx="17739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B7BBBC"/>
                </a:solidFill>
                <a:latin typeface="Noto Sans"/>
              </a:defRPr>
            </a:pPr>
            <a:r>
              <a:t>Resposta ao case  ·  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38912"/>
            <a:ext cx="10058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850" b="1">
                <a:solidFill>
                  <a:srgbClr val="C41950"/>
                </a:solidFill>
                <a:latin typeface="Noto Sans"/>
              </a:defRPr>
            </a:pPr>
            <a:r>
              <a:t>O DIAGNÓSTICO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768096"/>
            <a:ext cx="1097280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5191A"/>
                </a:solidFill>
                <a:latin typeface="Noto Sans"/>
              </a:defRPr>
            </a:pPr>
            <a:r>
              <a:t>O gargalo não é a falta de mais uma IA.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" y="1563624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0676A"/>
                </a:solidFill>
                <a:latin typeface="Noto Sans"/>
              </a:defRPr>
            </a:pPr>
            <a:r>
              <a:t>É a exceção sem evidência, responsável e próxima ação.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2459736"/>
            <a:ext cx="3456432" cy="2423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30175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C41950"/>
                </a:solidFill>
                <a:latin typeface="Noto Sans"/>
              </a:defRPr>
            </a:pPr>
            <a: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401568"/>
            <a:ext cx="30175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5191A"/>
                </a:solidFill>
                <a:latin typeface="Noto Sans"/>
              </a:defRPr>
            </a:pPr>
            <a:r>
              <a:t>dias úteis para fechar o mês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096512"/>
            <a:ext cx="30175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0676A"/>
                </a:solidFill>
                <a:latin typeface="Noto Sans"/>
              </a:defRPr>
            </a:pPr>
            <a:r>
              <a:t>Dado do case, não resultado medido.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1688" y="2459736"/>
            <a:ext cx="3456432" cy="2423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697480"/>
            <a:ext cx="30175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C41950"/>
                </a:solidFill>
                <a:latin typeface="Noto Sans"/>
              </a:defRPr>
            </a:pPr>
            <a:r>
              <a:t>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401568"/>
            <a:ext cx="30175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5191A"/>
                </a:solidFill>
                <a:latin typeface="Noto Sans"/>
              </a:defRPr>
            </a:pPr>
            <a:r>
              <a:t>dos pagamentos sem identificação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096512"/>
            <a:ext cx="30175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0676A"/>
                </a:solidFill>
                <a:latin typeface="Noto Sans"/>
              </a:defRPr>
            </a:pPr>
            <a:r>
              <a:t>A origem do retrabalho está visível.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10727" y="2459736"/>
            <a:ext cx="3456432" cy="2423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697480"/>
            <a:ext cx="30175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C41950"/>
                </a:solidFill>
                <a:latin typeface="Noto Sans"/>
              </a:defRPr>
            </a:pPr>
            <a: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401568"/>
            <a:ext cx="30175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5191A"/>
                </a:solidFill>
                <a:latin typeface="Noto Sans"/>
              </a:defRPr>
            </a:pPr>
            <a:r>
              <a:t>IA comprada e não usada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4096512"/>
            <a:ext cx="30175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0676A"/>
                </a:solidFill>
                <a:latin typeface="Noto Sans"/>
              </a:defRPr>
            </a:pPr>
            <a:r>
              <a:t>Segundo o CFO, “ninguém abre”.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312664"/>
            <a:ext cx="10789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15191A"/>
                </a:solidFill>
                <a:latin typeface="Noto Sans"/>
              </a:defRPr>
            </a:pPr>
            <a:r>
              <a:t>A resposta troca a promessa de conciliação autônoma por uma fila de resolução assistida.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6556248"/>
            <a:ext cx="36576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C41950"/>
                </a:solidFill>
                <a:latin typeface="Noto Sans"/>
              </a:defRPr>
            </a:pPr>
            <a:r>
              <a:t>VANTARA / AI SERVICES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6528816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770" b="0">
                <a:solidFill>
                  <a:srgbClr val="717778"/>
                </a:solidFill>
                <a:latin typeface="Noto Sans"/>
              </a:defRPr>
            </a:pPr>
            <a:r>
              <a:t>Números e fala retirados do Case Vantara.pdf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29800" y="6547104"/>
            <a:ext cx="17739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717778"/>
                </a:solidFill>
                <a:latin typeface="Noto Sans"/>
              </a:defRPr>
            </a:pPr>
            <a:r>
              <a:t>Resposta ao case  ·  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38912"/>
            <a:ext cx="10058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850" b="1">
                <a:solidFill>
                  <a:srgbClr val="C41950"/>
                </a:solidFill>
                <a:latin typeface="Noto Sans"/>
              </a:defRPr>
            </a:pPr>
            <a:r>
              <a:t>A RESPOSTA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768096"/>
            <a:ext cx="1097280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5191A"/>
                </a:solidFill>
                <a:latin typeface="Noto Sans"/>
              </a:defRPr>
            </a:pPr>
            <a:r>
              <a:t>Um fluxo de trabalho, não um chat.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" y="1563624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0676A"/>
                </a:solidFill>
                <a:latin typeface="Noto Sans"/>
              </a:defRPr>
            </a:pPr>
            <a:r>
              <a:t>Os cálculos e vínculos verificáveis ficam separados da interpretação da IA.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2249424"/>
            <a:ext cx="5340096" cy="13533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2395728"/>
            <a:ext cx="594360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C41950"/>
                </a:solidFill>
                <a:latin typeface="Noto Sans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7048" y="2414016"/>
            <a:ext cx="4206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15191A"/>
                </a:solidFill>
                <a:latin typeface="Noto Sans"/>
              </a:defRPr>
            </a:pPr>
            <a:r>
              <a:t>EXPORTS ORIGINAIS DO PACK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7048" y="2880360"/>
            <a:ext cx="42062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0676A"/>
                </a:solidFill>
                <a:latin typeface="Noto Sans"/>
              </a:defRPr>
            </a:pPr>
            <a:r>
              <a:t>Protheus · Omie · banco · contas a pagar</a:t>
            </a:r>
          </a:p>
        </p:txBody>
      </p:sp>
      <p:sp>
        <p:nvSpPr>
          <p:cNvPr id="9" name="Rectangle 8"/>
          <p:cNvSpPr/>
          <p:nvPr/>
        </p:nvSpPr>
        <p:spPr>
          <a:xfrm>
            <a:off x="6190488" y="2249424"/>
            <a:ext cx="5340096" cy="13533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3368" y="2395728"/>
            <a:ext cx="594360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C41950"/>
                </a:solidFill>
                <a:latin typeface="Noto Sans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04888" y="2414016"/>
            <a:ext cx="4206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15191A"/>
                </a:solidFill>
                <a:latin typeface="Noto Sans"/>
              </a:defRPr>
            </a:pPr>
            <a:r>
              <a:t>REGRAS PRIMEIRO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04888" y="2880360"/>
            <a:ext cx="42062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0676A"/>
                </a:solidFill>
                <a:latin typeface="Noto Sans"/>
              </a:defRPr>
            </a:pPr>
            <a:r>
              <a:t>Vínculo documental, candidatos ficam à parte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" y="3849624"/>
            <a:ext cx="5340096" cy="13533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3995928"/>
            <a:ext cx="594360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C41950"/>
                </a:solidFill>
                <a:latin typeface="Noto Sans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4014215"/>
            <a:ext cx="4206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15191A"/>
                </a:solidFill>
                <a:latin typeface="Noto Sans"/>
              </a:defRPr>
            </a:pPr>
            <a:r>
              <a:t>AGENTE COM FONTES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7048" y="4480560"/>
            <a:ext cx="42062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0676A"/>
                </a:solidFill>
                <a:latin typeface="Noto Sans"/>
              </a:defRPr>
            </a:pPr>
            <a:r>
              <a:t>Investiga o dossiê e sugere o que conferir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0488" y="3849624"/>
            <a:ext cx="5340096" cy="13533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368" y="3995928"/>
            <a:ext cx="594360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C41950"/>
                </a:solidFill>
                <a:latin typeface="Noto Sans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04888" y="4014215"/>
            <a:ext cx="4206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15191A"/>
                </a:solidFill>
                <a:latin typeface="Noto Sans"/>
              </a:defRPr>
            </a:pPr>
            <a:r>
              <a:t>DECISÃO HUMANA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04888" y="4480560"/>
            <a:ext cx="42062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0676A"/>
                </a:solidFill>
                <a:latin typeface="Noto Sans"/>
              </a:defRPr>
            </a:pPr>
            <a:r>
              <a:t>Responsável, nota, estado e histórico local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742432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15191A"/>
                </a:solidFill>
                <a:latin typeface="Noto Sans"/>
              </a:defRPr>
            </a:pPr>
            <a:r>
              <a:t>Já roda na amostra sintética de julho/2026. Não grava baixa, envio ou pagamento.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" y="6556248"/>
            <a:ext cx="36576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C41950"/>
                </a:solidFill>
                <a:latin typeface="Noto Sans"/>
              </a:defRPr>
            </a:pPr>
            <a:r>
              <a:t>VANTARA / AI SERVICES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6547104"/>
            <a:ext cx="17739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717778"/>
                </a:solidFill>
                <a:latin typeface="Noto Sans"/>
              </a:defRPr>
            </a:pPr>
            <a:r>
              <a:t>Resposta ao case  ·  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38912"/>
            <a:ext cx="10058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850" b="1">
                <a:solidFill>
                  <a:srgbClr val="C41950"/>
                </a:solidFill>
                <a:latin typeface="Noto Sans"/>
              </a:defRPr>
            </a:pPr>
            <a:r>
              <a:t>O QUE JÁ RODA · VISÃO DE GESTÃO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768096"/>
            <a:ext cx="1097280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5191A"/>
                </a:solidFill>
                <a:latin typeface="Noto Sans"/>
              </a:defRPr>
            </a:pPr>
            <a:r>
              <a:t>Pendências com dono. Decisões com rastro.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" y="1563624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0676A"/>
                </a:solidFill>
                <a:latin typeface="Noto Sans"/>
              </a:defRPr>
            </a:pPr>
            <a:r>
              <a:t>Contagem desta amostra, não é volume do mês nem caixa certificado.</a:t>
            </a:r>
          </a:p>
        </p:txBody>
      </p:sp>
      <p:pic>
        <p:nvPicPr>
          <p:cNvPr id="5" name="Picture 4" descr="vantara-slide-overview-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965960"/>
            <a:ext cx="10927080" cy="29998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623560"/>
            <a:ext cx="1078992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5191A"/>
                </a:solidFill>
                <a:latin typeface="Noto Sans"/>
              </a:defRPr>
            </a:pPr>
            <a:r>
              <a:t>Tipo  →  prioridade  →  responsável  →  tempo em aberto. Cada grupo leva à fila e ao dossiê.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6556248"/>
            <a:ext cx="36576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C41950"/>
                </a:solidFill>
                <a:latin typeface="Noto Sans"/>
              </a:defRPr>
            </a:pPr>
            <a:r>
              <a:t>VANTARA / AI SERVICES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6528816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770" b="0">
                <a:solidFill>
                  <a:srgbClr val="717778"/>
                </a:solidFill>
                <a:latin typeface="Noto Sans"/>
              </a:defRPr>
            </a:pPr>
            <a:r>
              <a:t>Captura da aplicação local com amostra sintética de julho/2026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6547104"/>
            <a:ext cx="17739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717778"/>
                </a:solidFill>
                <a:latin typeface="Noto Sans"/>
              </a:defRPr>
            </a:pPr>
            <a:r>
              <a:t>Resposta ao case  ·  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38912"/>
            <a:ext cx="10058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850" b="1">
                <a:solidFill>
                  <a:srgbClr val="C41950"/>
                </a:solidFill>
                <a:latin typeface="Noto Sans"/>
              </a:defRPr>
            </a:pPr>
            <a:r>
              <a:t>UM CASO COMPLETO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768096"/>
            <a:ext cx="6080760" cy="107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5191A"/>
                </a:solidFill>
                <a:latin typeface="Noto Sans"/>
              </a:defRPr>
            </a:pPr>
            <a:r>
              <a:t>NF 104560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5191A"/>
                </a:solidFill>
                <a:latin typeface="Noto Sans"/>
              </a:defRPr>
            </a:pPr>
            <a:r>
              <a:t>crédito não é quitação.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65376"/>
            <a:ext cx="475488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C41950"/>
                </a:solidFill>
                <a:latin typeface="Noto Sans"/>
              </a:defRPr>
            </a:pPr>
            <a:r>
              <a:t>R$ 125 mil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48463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5191A"/>
                </a:solidFill>
                <a:latin typeface="Noto Sans"/>
              </a:defRPr>
            </a:pPr>
            <a:r>
              <a:t>Título aberto no Protheus, linha 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08960"/>
            <a:ext cx="475488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C41950"/>
                </a:solidFill>
                <a:latin typeface="Noto Sans"/>
              </a:defRPr>
            </a:pPr>
            <a:r>
              <a:t>R$ 62,5 mil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694176"/>
            <a:ext cx="4709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5191A"/>
                </a:solidFill>
                <a:latin typeface="Noto Sans"/>
              </a:defRPr>
            </a:pPr>
            <a:r>
              <a:t>Crédito do extrato, linha 8, com referência documental.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89704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C41950"/>
                </a:solidFill>
                <a:latin typeface="Noto Sans"/>
              </a:defRPr>
            </a:pPr>
            <a:r>
              <a:t>R$ 3,4 mil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992624"/>
            <a:ext cx="457200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5191A"/>
                </a:solidFill>
                <a:latin typeface="Noto Sans"/>
              </a:defRPr>
            </a:pPr>
            <a:r>
              <a:t>PIX da linha 17 é só candidato. Nenhuma atribuição automática.</a:t>
            </a:r>
          </a:p>
        </p:txBody>
      </p:sp>
      <p:pic>
        <p:nvPicPr>
          <p:cNvPr id="10" name="Picture 9" descr="vantara-slide-invoice-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8312" y="1335024"/>
            <a:ext cx="3877056" cy="455941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9224" y="5833872"/>
            <a:ext cx="52120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5191A"/>
                </a:solidFill>
                <a:latin typeface="Noto Sans"/>
              </a:defRPr>
            </a:pPr>
            <a:r>
              <a:t>Conferir baixa no ERP antes de afirmar recebimento.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6556248"/>
            <a:ext cx="36576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C41950"/>
                </a:solidFill>
                <a:latin typeface="Noto Sans"/>
              </a:defRPr>
            </a:pPr>
            <a:r>
              <a:t>VANTARA / AI SERVICES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6528816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770" b="0">
                <a:solidFill>
                  <a:srgbClr val="717778"/>
                </a:solidFill>
                <a:latin typeface="Noto Sans"/>
              </a:defRPr>
            </a:pPr>
            <a:r>
              <a:t>Protheus linha 8 · extrato linhas 8 e 17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800" y="6547104"/>
            <a:ext cx="17739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717778"/>
                </a:solidFill>
                <a:latin typeface="Noto Sans"/>
              </a:defRPr>
            </a:pPr>
            <a:r>
              <a:t>Resposta ao case  ·  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419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75488"/>
            <a:ext cx="1005840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  <a:latin typeface="Noto Sans"/>
              </a:defRPr>
            </a:pPr>
            <a:r>
              <a:t>A REGRA DE SEGURANÇA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965960"/>
            <a:ext cx="11064240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FFFFFF"/>
                </a:solidFill>
                <a:latin typeface="Noto Sans"/>
              </a:defRPr>
            </a:pPr>
            <a:r>
              <a:t>Vínculo ≠ quitação.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FFFFFF"/>
                </a:solidFill>
                <a:latin typeface="Noto Sans"/>
              </a:defRPr>
            </a:pPr>
            <a:r>
              <a:t>Candidato ≠ pagamento.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84064"/>
            <a:ext cx="1005840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FFFFFF"/>
                </a:solidFill>
                <a:latin typeface="Noto Sans"/>
              </a:defRPr>
            </a:pPr>
            <a:r>
              <a:t>A automação útil sabe quando parar.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6556248"/>
            <a:ext cx="36576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  <a:latin typeface="Noto Sans"/>
              </a:defRPr>
            </a:pPr>
            <a:r>
              <a:t>VANTARA / AI SERVICES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29800" y="6547104"/>
            <a:ext cx="17739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B7BBBC"/>
                </a:solidFill>
                <a:latin typeface="Noto Sans"/>
              </a:defRPr>
            </a:pPr>
            <a:r>
              <a:t>Resposta ao case  ·  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38912"/>
            <a:ext cx="10058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850" b="1">
                <a:solidFill>
                  <a:srgbClr val="C41950"/>
                </a:solidFill>
                <a:latin typeface="Noto Sans"/>
              </a:defRPr>
            </a:pPr>
            <a:r>
              <a:t>ONDE A REGRA NÃO RESOLVE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768096"/>
            <a:ext cx="1097280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5191A"/>
                </a:solidFill>
                <a:latin typeface="Noto Sans"/>
              </a:defRPr>
            </a:pPr>
            <a:r>
              <a:t>Um PIX. Dois títulos possíveis. Zero baixa.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4800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C41950"/>
                </a:solidFill>
                <a:latin typeface="Noto Sans"/>
              </a:defRPr>
            </a:pPr>
            <a:r>
              <a:t>R$ 3.400,00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05456"/>
            <a:ext cx="4800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5191A"/>
                </a:solidFill>
                <a:latin typeface="Noto Sans"/>
              </a:defRPr>
            </a:pPr>
            <a:r>
              <a:t>Banco · linha 17 · 29/07/2026.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73552"/>
            <a:ext cx="4709160" cy="9235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5191A"/>
                </a:solidFill>
                <a:latin typeface="Noto Sans"/>
              </a:defRPr>
            </a:pPr>
            <a:r>
              <a:t>A NF 104560 (Protheus) coincide pelo nome. FAT-2026-0335 (Omie) pelo nome e valor.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608576"/>
            <a:ext cx="4736592" cy="950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5191A"/>
                </a:solidFill>
                <a:latin typeface="Noto Sans"/>
              </a:defRPr>
            </a:pPr>
            <a:r>
              <a:t>Próxima ação é pedir referência ou comprovante. Se não vier prova, marcar inconclusivo.</a:t>
            </a:r>
          </a:p>
        </p:txBody>
      </p:sp>
      <p:pic>
        <p:nvPicPr>
          <p:cNvPr id="8" name="Picture 7" descr="vantara-slide-pix-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947672"/>
            <a:ext cx="5422392" cy="268231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98464" y="5678424"/>
            <a:ext cx="521208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0676A"/>
                </a:solidFill>
                <a:latin typeface="Noto Sans"/>
              </a:defRPr>
            </a:pPr>
            <a:r>
              <a:t>A IA pode preparar um rascunho editável e não envia mensagem.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6556248"/>
            <a:ext cx="36576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C41950"/>
                </a:solidFill>
                <a:latin typeface="Noto Sans"/>
              </a:defRPr>
            </a:pPr>
            <a:r>
              <a:t>VANTARA / AI SERVICES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6528816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770" b="0">
                <a:solidFill>
                  <a:srgbClr val="717778"/>
                </a:solidFill>
                <a:latin typeface="Noto Sans"/>
              </a:defRPr>
            </a:pPr>
            <a:r>
              <a:t>Extrato linha 17 · Protheus linha 8 · Omie linha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29800" y="6547104"/>
            <a:ext cx="17739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717778"/>
                </a:solidFill>
                <a:latin typeface="Noto Sans"/>
              </a:defRPr>
            </a:pPr>
            <a:r>
              <a:t>Resposta ao case  ·  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38912"/>
            <a:ext cx="10058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850" b="1">
                <a:solidFill>
                  <a:srgbClr val="C41950"/>
                </a:solidFill>
                <a:latin typeface="Noto Sans"/>
              </a:defRPr>
            </a:pPr>
            <a:r>
              <a:t>AGENTE PROPÕE · ANALISTA DECIDE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768096"/>
            <a:ext cx="1097280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5191A"/>
                </a:solidFill>
                <a:latin typeface="Noto Sans"/>
              </a:defRPr>
            </a:pPr>
            <a:r>
              <a:t>A decisão tem responsável e rastro.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594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C41950"/>
                </a:solidFill>
                <a:latin typeface="Noto San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99032" y="1911095"/>
            <a:ext cx="4882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5191A"/>
                </a:solidFill>
                <a:latin typeface="Noto Sans"/>
              </a:defRPr>
            </a:pPr>
            <a:r>
              <a:t>Atribuir responsável.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594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C41950"/>
                </a:solidFill>
                <a:latin typeface="Noto Sans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99032" y="2779776"/>
            <a:ext cx="4882896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5191A"/>
                </a:solidFill>
                <a:latin typeface="Noto Sans"/>
              </a:defRPr>
            </a:pPr>
            <a:r>
              <a:t>Registrar evidência e decisão.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75887"/>
            <a:ext cx="594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C41950"/>
                </a:solidFill>
                <a:latin typeface="Noto Sans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99032" y="3712463"/>
            <a:ext cx="488289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5191A"/>
                </a:solidFill>
                <a:latin typeface="Noto Sans"/>
              </a:defRPr>
            </a:pPr>
            <a:r>
              <a:t>Encerrar ou devolver à fila.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736592"/>
            <a:ext cx="5422392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" y="4901184"/>
            <a:ext cx="5010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5191A"/>
                </a:solidFill>
                <a:latin typeface="Noto Sans"/>
              </a:defRPr>
            </a:pPr>
            <a:r>
              <a:t>Encerramento = revisão concluída.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" y="5285232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0676A"/>
                </a:solidFill>
                <a:latin typeface="Noto Sans"/>
              </a:defRPr>
            </a:pPr>
            <a:r>
              <a:t>Não é baixa, aprovação nem quitação.</a:t>
            </a:r>
          </a:p>
        </p:txBody>
      </p:sp>
      <p:pic>
        <p:nvPicPr>
          <p:cNvPr id="13" name="Picture 12" descr="vantara-slide-decision-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2008" y="1847088"/>
            <a:ext cx="4187952" cy="34604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2648" y="6556248"/>
            <a:ext cx="36576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C41950"/>
                </a:solidFill>
                <a:latin typeface="Noto Sans"/>
              </a:defRPr>
            </a:pPr>
            <a:r>
              <a:t>VANTARA / AI SERVICES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6528816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770" b="0">
                <a:solidFill>
                  <a:srgbClr val="717778"/>
                </a:solidFill>
                <a:latin typeface="Noto Sans"/>
              </a:defRPr>
            </a:pPr>
            <a:r>
              <a:t>Captura da fila e formulário local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29800" y="6547104"/>
            <a:ext cx="17739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717778"/>
                </a:solidFill>
                <a:latin typeface="Noto Sans"/>
              </a:defRPr>
            </a:pPr>
            <a:r>
              <a:t>Resposta ao case  ·  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38912"/>
            <a:ext cx="10058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850" b="1">
                <a:solidFill>
                  <a:srgbClr val="C41950"/>
                </a:solidFill>
                <a:latin typeface="Noto Sans"/>
              </a:defRPr>
            </a:pPr>
            <a:r>
              <a:t>PARA O CFO · E PARA A ADOÇÃO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768096"/>
            <a:ext cx="1097280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5191A"/>
                </a:solidFill>
                <a:latin typeface="Noto Sans"/>
              </a:defRPr>
            </a:pPr>
            <a:r>
              <a:t>Um painel de trabalho e risco sob revisão.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" y="1563624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0676A"/>
                </a:solidFill>
                <a:latin typeface="Noto Sans"/>
              </a:defRPr>
            </a:pPr>
            <a:r>
              <a:t>Não substitui o fechamento nem inventa ROI para esta amostra.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2331720"/>
            <a:ext cx="3456432" cy="2761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3816" y="2642616"/>
            <a:ext cx="512064" cy="59436"/>
          </a:xfrm>
          <a:prstGeom prst="rect">
            <a:avLst/>
          </a:prstGeom>
          <a:solidFill>
            <a:srgbClr val="C41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2862072"/>
            <a:ext cx="298094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5191A"/>
                </a:solidFill>
                <a:latin typeface="Noto Sans"/>
              </a:defRPr>
            </a:pPr>
            <a:r>
              <a:t>PENDÊNCIAS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" y="3584448"/>
            <a:ext cx="2962656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0676A"/>
                </a:solidFill>
                <a:latin typeface="Noto Sans"/>
              </a:defRPr>
            </a:pPr>
            <a:r>
              <a:t>Por situação, prioridade, responsável e idade da fila.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1688" y="2331720"/>
            <a:ext cx="3456432" cy="2761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62855" y="2642616"/>
            <a:ext cx="512064" cy="59436"/>
          </a:xfrm>
          <a:prstGeom prst="rect">
            <a:avLst/>
          </a:prstGeom>
          <a:solidFill>
            <a:srgbClr val="C41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2855" y="2862072"/>
            <a:ext cx="298094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5191A"/>
                </a:solidFill>
                <a:latin typeface="Noto Sans"/>
              </a:defRPr>
            </a:pPr>
            <a:r>
              <a:t>PROVA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62855" y="3584448"/>
            <a:ext cx="2962656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0676A"/>
                </a:solidFill>
                <a:latin typeface="Noto Sans"/>
              </a:defRPr>
            </a:pPr>
            <a:r>
              <a:t>Clique em cada número para ver linhas de origem e próximos passos.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10727" y="2331720"/>
            <a:ext cx="3456432" cy="2761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311896" y="2642616"/>
            <a:ext cx="512064" cy="59436"/>
          </a:xfrm>
          <a:prstGeom prst="rect">
            <a:avLst/>
          </a:prstGeom>
          <a:solidFill>
            <a:srgbClr val="C41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11896" y="2862072"/>
            <a:ext cx="298094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5191A"/>
                </a:solidFill>
                <a:latin typeface="Noto Sans"/>
              </a:defRPr>
            </a:pPr>
            <a:r>
              <a:t>COMPARAÇÃO JUSTA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1896" y="3584448"/>
            <a:ext cx="2962656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0676A"/>
                </a:solidFill>
                <a:latin typeface="Noto Sans"/>
              </a:defRPr>
            </a:pPr>
            <a:r>
              <a:t>Rodar os mesmos casos na IA anterior e medir tempo, atribuições indevidas e evidência.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550408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5191A"/>
                </a:solidFill>
                <a:latin typeface="Noto Sans"/>
              </a:defRPr>
            </a:pPr>
            <a:r>
              <a:t>Diferença demonstrada  ·  regra auditável → interpretação contextual → decisão humana registrada.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6556248"/>
            <a:ext cx="36576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C41950"/>
                </a:solidFill>
                <a:latin typeface="Noto Sans"/>
              </a:defRPr>
            </a:pPr>
            <a:r>
              <a:t>VANTARA / AI SERVICES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6528816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770" b="0">
                <a:solidFill>
                  <a:srgbClr val="717778"/>
                </a:solidFill>
                <a:latin typeface="Noto Sans"/>
              </a:defRPr>
            </a:pPr>
            <a:r>
              <a:t>Ferramenta anterior não usada segundo o CFO no case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29800" y="6547104"/>
            <a:ext cx="17739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717778"/>
                </a:solidFill>
                <a:latin typeface="Noto Sans"/>
              </a:defRPr>
            </a:pPr>
            <a:r>
              <a:t>Resposta ao case  ·  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38912"/>
            <a:ext cx="10058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850" b="1">
                <a:solidFill>
                  <a:srgbClr val="C41950"/>
                </a:solidFill>
                <a:latin typeface="Noto Sans"/>
              </a:defRPr>
            </a:pPr>
            <a:r>
              <a:t>O LIMITE TÉCNICO · SEM VENDER UMA FICÇÃO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768096"/>
            <a:ext cx="1097280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15191A"/>
                </a:solidFill>
                <a:latin typeface="Noto Sans"/>
              </a:defRPr>
            </a:pPr>
            <a:r>
              <a:t>A demo local não equivale a “nada sai”.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828800"/>
            <a:ext cx="7278624" cy="31363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2048256"/>
            <a:ext cx="6172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C41950"/>
                </a:solidFill>
                <a:latin typeface="Noto Sans"/>
              </a:defRPr>
            </a:pPr>
            <a:r>
              <a:t>INFRAESTRUTURA VANTARA · DEMO LOCAL</a:t>
            </a:r>
          </a:p>
        </p:txBody>
      </p:sp>
      <p:sp>
        <p:nvSpPr>
          <p:cNvPr id="6" name="Rectangle 5"/>
          <p:cNvSpPr/>
          <p:nvPr/>
        </p:nvSpPr>
        <p:spPr>
          <a:xfrm>
            <a:off x="932688" y="2624328"/>
            <a:ext cx="1938528" cy="1298448"/>
          </a:xfrm>
          <a:prstGeom prst="rect">
            <a:avLst/>
          </a:prstGeom>
          <a:solidFill>
            <a:srgbClr val="F0F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2852928"/>
            <a:ext cx="16459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5191A"/>
                </a:solidFill>
                <a:latin typeface="Noto Sans"/>
              </a:defRPr>
            </a:pPr>
            <a:r>
              <a:t>Exports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" y="3246120"/>
            <a:ext cx="1645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60676A"/>
                </a:solidFill>
                <a:latin typeface="Noto Sans"/>
              </a:defRPr>
            </a:pPr>
            <a:r>
              <a:t>originais do pack</a:t>
            </a:r>
          </a:p>
        </p:txBody>
      </p:sp>
      <p:sp>
        <p:nvSpPr>
          <p:cNvPr id="9" name="Rectangle 8"/>
          <p:cNvSpPr/>
          <p:nvPr/>
        </p:nvSpPr>
        <p:spPr>
          <a:xfrm>
            <a:off x="3236976" y="2624328"/>
            <a:ext cx="1938528" cy="1298448"/>
          </a:xfrm>
          <a:prstGeom prst="rect">
            <a:avLst/>
          </a:prstGeom>
          <a:solidFill>
            <a:srgbClr val="F0F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92424" y="2852928"/>
            <a:ext cx="16459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5191A"/>
                </a:solidFill>
                <a:latin typeface="Noto Sans"/>
              </a:defRPr>
            </a:pPr>
            <a:r>
              <a:t>Floci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92424" y="3246120"/>
            <a:ext cx="1645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60676A"/>
                </a:solidFill>
                <a:latin typeface="Noto Sans"/>
              </a:defRPr>
            </a:pPr>
            <a:r>
              <a:t>armazenamento local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41264" y="2624328"/>
            <a:ext cx="1938528" cy="1298448"/>
          </a:xfrm>
          <a:prstGeom prst="rect">
            <a:avLst/>
          </a:prstGeom>
          <a:solidFill>
            <a:srgbClr val="F0F0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96712" y="2852928"/>
            <a:ext cx="16459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5191A"/>
                </a:solidFill>
                <a:latin typeface="Noto Sans"/>
              </a:defRPr>
            </a:pPr>
            <a:r>
              <a:t>API / tela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6712" y="3246120"/>
            <a:ext cx="1645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60676A"/>
                </a:solidFill>
                <a:latin typeface="Noto Sans"/>
              </a:defRPr>
            </a:pPr>
            <a:r>
              <a:t>dossiê e fila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35224" y="2916936"/>
            <a:ext cx="274320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C41950"/>
                </a:solidFill>
                <a:latin typeface="Noto Sans"/>
              </a:defRPr>
            </a:pPr>
            <a: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9512" y="2916936"/>
            <a:ext cx="274320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C41950"/>
                </a:solidFill>
                <a:latin typeface="Noto Sans"/>
              </a:defRPr>
            </a:pPr>
            <a: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4242816"/>
            <a:ext cx="64008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5191A"/>
                </a:solidFill>
                <a:latin typeface="Noto Sans"/>
              </a:defRPr>
            </a:pPr>
            <a:r>
              <a:t>SQLite local guarda o estado e histórico das decisões humanas.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57031" y="1828800"/>
            <a:ext cx="3273552" cy="3136392"/>
          </a:xfrm>
          <a:prstGeom prst="rect">
            <a:avLst/>
          </a:prstGeom>
          <a:solidFill>
            <a:srgbClr val="FDEC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13064" y="2066543"/>
            <a:ext cx="2697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C41950"/>
                </a:solidFill>
                <a:latin typeface="Noto Sans"/>
              </a:defRPr>
            </a:pPr>
            <a:r>
              <a:t>FORA DA EMPRESA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13064" y="2560320"/>
            <a:ext cx="267919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5191A"/>
                </a:solidFill>
                <a:latin typeface="Noto Sans"/>
              </a:defRPr>
            </a:pPr>
            <a:r>
              <a:t>OpenAI externa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3246120"/>
            <a:ext cx="2670048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5191A"/>
                </a:solidFill>
                <a:latin typeface="Noto Sans"/>
              </a:defRPr>
            </a:pPr>
            <a:r>
              <a:t>A demo envia contexto e trechos sintéticos à IA. Não atende à exigência de inferência privada.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312664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5191A"/>
                </a:solidFill>
                <a:latin typeface="Noto Sans"/>
              </a:defRPr>
            </a:pPr>
            <a:r>
              <a:t>Para dados reais são necessários inferência privada, identidade e acesso aprovados pela TI. Protheus apenas leitura e exportação por 90 dias. Barte somente com exceção aprovada.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" y="6556248"/>
            <a:ext cx="36576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C41950"/>
                </a:solidFill>
                <a:latin typeface="Noto Sans"/>
              </a:defRPr>
            </a:pPr>
            <a:r>
              <a:t>VANTARA / AI SERVICES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49039" y="6528816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770" b="0">
                <a:solidFill>
                  <a:srgbClr val="717778"/>
                </a:solidFill>
                <a:latin typeface="Noto Sans"/>
              </a:defRPr>
            </a:pPr>
            <a:r>
              <a:t>Limites de TI e Barte no Case Vantara.pdf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29800" y="6547104"/>
            <a:ext cx="17739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717778"/>
                </a:solidFill>
                <a:latin typeface="Noto Sans"/>
              </a:defRPr>
            </a:pPr>
            <a:r>
              <a:t>Resposta ao case  ·  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9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38912"/>
            <a:ext cx="10058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850" b="1">
                <a:solidFill>
                  <a:srgbClr val="FFFFFF"/>
                </a:solidFill>
                <a:latin typeface="Noto Sans"/>
              </a:defRPr>
            </a:pPr>
            <a:r>
              <a:t>A DECISÃO PEDIDA AO CTO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655064"/>
            <a:ext cx="10927080" cy="16642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FFFFFF"/>
                </a:solidFill>
                <a:latin typeface="Noto Sans"/>
              </a:defRPr>
            </a:pPr>
            <a:r>
              <a:t>Aposte no fluxo.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FFFFFF"/>
                </a:solidFill>
                <a:latin typeface="Noto Sans"/>
              </a:defRPr>
            </a:pPr>
            <a:r>
              <a:t>Não na mágica da IA.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" y="3977639"/>
            <a:ext cx="713232" cy="47548"/>
          </a:xfrm>
          <a:prstGeom prst="rect">
            <a:avLst/>
          </a:prstGeom>
          <a:solidFill>
            <a:srgbClr val="C41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4416552"/>
            <a:ext cx="10927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FFFFFF"/>
                </a:solidFill>
                <a:latin typeface="Noto Sans"/>
              </a:defRPr>
            </a:pPr>
            <a:r>
              <a:t>Piloto de 30 dias com exports, leitura aprovada e revisão humana.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" y="5074920"/>
            <a:ext cx="10744200" cy="832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C6CBCC"/>
                </a:solidFill>
                <a:latin typeface="Noto Sans"/>
              </a:defRPr>
            </a:pPr>
            <a:r>
              <a:t>Dados reais exigem inferência privada e controles de identidade e acesso. Comparar a ferramenta anterior nos mesmos casos antes de prometer impacto.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6556248"/>
            <a:ext cx="36576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FFFFFF"/>
                </a:solidFill>
                <a:latin typeface="Noto Sans"/>
              </a:defRPr>
            </a:pPr>
            <a:r>
              <a:t>VANTARA / AI SERVICES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29800" y="6547104"/>
            <a:ext cx="17739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B7BBBC"/>
                </a:solidFill>
                <a:latin typeface="Noto Sans"/>
              </a:defRPr>
            </a:pPr>
            <a:r>
              <a:t>Resposta ao case  ·  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