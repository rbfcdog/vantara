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3891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FFFFFF"/>
                </a:solidFill>
                <a:latin typeface="Noto Sans"/>
              </a:defRPr>
            </a:pPr>
            <a:r>
              <a:t>RESPOSTA APLICADA · OUTUBRO DE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47088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FFFFFF"/>
                </a:solidFill>
                <a:latin typeface="Noto Sans"/>
              </a:defRPr>
            </a:pPr>
            <a:r>
              <a:t>Case Vantara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2852928"/>
            <a:ext cx="1005840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Noto Sans"/>
              </a:defRPr>
            </a:pPr>
            <a:r>
              <a:t>Da planilha à decisão rastreável.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4270248"/>
            <a:ext cx="685800" cy="41148"/>
          </a:xfrm>
          <a:prstGeom prst="rect">
            <a:avLst/>
          </a:prstGeom>
          <a:solidFill>
            <a:srgbClr val="C41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4690872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7BBBC"/>
                </a:solidFill>
                <a:latin typeface="Noto Sans"/>
              </a:defRPr>
            </a:pPr>
            <a:r>
              <a:t>Resolução assistida em recebíveis  ·  Demonstração sobre dados sintéticos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556248"/>
            <a:ext cx="36576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Noto Sans"/>
              </a:defRPr>
            </a:pPr>
            <a:r>
              <a:t>VANTARA / AI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6547104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7BBBC"/>
                </a:solidFill>
                <a:latin typeface="Noto Sans"/>
              </a:defRPr>
            </a:pPr>
            <a:r>
              <a:t>Resposta ao case  ·  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3891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C41950"/>
                </a:solidFill>
                <a:latin typeface="Noto Sans"/>
              </a:defRPr>
            </a:pPr>
            <a:r>
              <a:t>O 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972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5191A"/>
                </a:solidFill>
                <a:latin typeface="Noto Sans"/>
              </a:defRPr>
            </a:pPr>
            <a:r>
              <a:t>O gargalo não é a falta de mais uma 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6362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76A"/>
                </a:solidFill>
                <a:latin typeface="Noto Sans"/>
              </a:defRPr>
            </a:pPr>
            <a:r>
              <a:t>É a exceção sem evidência, responsável e próxima 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2459736"/>
            <a:ext cx="3456432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C41950"/>
                </a:solidFill>
                <a:latin typeface="Noto San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01568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5191A"/>
                </a:solidFill>
                <a:latin typeface="Noto Sans"/>
              </a:defRPr>
            </a:pPr>
            <a:r>
              <a:t>dias úteis para fechar o mês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96512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76A"/>
                </a:solidFill>
                <a:latin typeface="Noto Sans"/>
              </a:defRPr>
            </a:pPr>
            <a:r>
              <a:t>Dado do case, não resultado medido.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459736"/>
            <a:ext cx="3456432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697480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C41950"/>
                </a:solidFill>
                <a:latin typeface="Noto Sans"/>
              </a:defRPr>
            </a:pPr>
            <a:r>
              <a:t>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01568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5191A"/>
                </a:solidFill>
                <a:latin typeface="Noto Sans"/>
              </a:defRPr>
            </a:pPr>
            <a:r>
              <a:t>dos pagamentos sem identificação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096512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76A"/>
                </a:solidFill>
                <a:latin typeface="Noto Sans"/>
              </a:defRPr>
            </a:pPr>
            <a:r>
              <a:t>A origem do retrabalho está visível.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0727" y="2459736"/>
            <a:ext cx="3456432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697480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C41950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01568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5191A"/>
                </a:solidFill>
                <a:latin typeface="Noto Sans"/>
              </a:defRPr>
            </a:pPr>
            <a:r>
              <a:t>IA comprada e não usada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096512"/>
            <a:ext cx="3017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76A"/>
                </a:solidFill>
                <a:latin typeface="Noto Sans"/>
              </a:defRPr>
            </a:pPr>
            <a:r>
              <a:t>CFO: “Ninguém abre.”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12664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5191A"/>
                </a:solidFill>
                <a:latin typeface="Noto Sans"/>
              </a:defRPr>
            </a:pPr>
            <a:r>
              <a:t>Resposta: trocar uma promessa de conciliação autônoma por uma fila de resolução assistida.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556248"/>
            <a:ext cx="36576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C41950"/>
                </a:solidFill>
                <a:latin typeface="Noto Sans"/>
              </a:defRPr>
            </a:pPr>
            <a:r>
              <a:t>VANTARA / AI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652881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717778"/>
                </a:solidFill>
                <a:latin typeface="Noto Sans"/>
              </a:defRPr>
            </a:pPr>
            <a:r>
              <a:t>Fonte dos números e da fala: Case Vantara.pdf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6547104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17778"/>
                </a:solidFill>
                <a:latin typeface="Noto Sans"/>
              </a:defRPr>
            </a:pPr>
            <a:r>
              <a:t>Resposta ao case  ·  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3891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C41950"/>
                </a:solidFill>
                <a:latin typeface="Noto Sans"/>
              </a:defRPr>
            </a:pPr>
            <a:r>
              <a:t>A RESPOSTA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972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5191A"/>
                </a:solidFill>
                <a:latin typeface="Noto Sans"/>
              </a:defRPr>
            </a:pPr>
            <a:r>
              <a:t>Um fluxo de trabalho, não um chat.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6362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76A"/>
                </a:solidFill>
                <a:latin typeface="Noto Sans"/>
              </a:defRPr>
            </a:pPr>
            <a:r>
              <a:t>Os cálculos e vínculos verificáveis ficam separados da interpretação da 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2249424"/>
            <a:ext cx="5340096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395728"/>
            <a:ext cx="59436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C41950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2414016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91A"/>
                </a:solidFill>
                <a:latin typeface="Noto Sans"/>
              </a:defRPr>
            </a:pPr>
            <a:r>
              <a:t>EXPORTS ORIGINAIS DO 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880360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76A"/>
                </a:solidFill>
                <a:latin typeface="Noto Sans"/>
              </a:defRPr>
            </a:pPr>
            <a:r>
              <a:t>Protheus · Omie · banco · contas a pagar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0488" y="2249424"/>
            <a:ext cx="5340096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395728"/>
            <a:ext cx="59436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C41950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2414016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91A"/>
                </a:solidFill>
                <a:latin typeface="Noto Sans"/>
              </a:defRPr>
            </a:pPr>
            <a:r>
              <a:t>REGRAS PRIMEIRO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8" y="2880360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76A"/>
                </a:solidFill>
                <a:latin typeface="Noto Sans"/>
              </a:defRPr>
            </a:pPr>
            <a:r>
              <a:t>Vínculo documental; candidatos ficam à parte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3849624"/>
            <a:ext cx="5340096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995928"/>
            <a:ext cx="59436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C41950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401421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91A"/>
                </a:solidFill>
                <a:latin typeface="Noto Sans"/>
              </a:defRPr>
            </a:pPr>
            <a:r>
              <a:t>AGENTE COM FONTES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4480560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76A"/>
                </a:solidFill>
                <a:latin typeface="Noto Sans"/>
              </a:defRPr>
            </a:pPr>
            <a:r>
              <a:t>Investiga o dossiê e sugere o que conferir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849624"/>
            <a:ext cx="5340096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3995928"/>
            <a:ext cx="59436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C41950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401421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5191A"/>
                </a:solidFill>
                <a:latin typeface="Noto Sans"/>
              </a:defRPr>
            </a:pPr>
            <a:r>
              <a:t>DECISÃO HUMANA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4480560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76A"/>
                </a:solidFill>
                <a:latin typeface="Noto Sans"/>
              </a:defRPr>
            </a:pPr>
            <a:r>
              <a:t>Responsável, nota, estado e histórico local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42432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5191A"/>
                </a:solidFill>
                <a:latin typeface="Noto Sans"/>
              </a:defRPr>
            </a:pPr>
            <a:r>
              <a:t>Já roda na amostra sintética de julho/2026; não grava baixa, envio ou pagamento.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556248"/>
            <a:ext cx="36576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C41950"/>
                </a:solidFill>
                <a:latin typeface="Noto Sans"/>
              </a:defRPr>
            </a:pPr>
            <a:r>
              <a:t>VANTARA / AI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6547104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17778"/>
                </a:solidFill>
                <a:latin typeface="Noto Sans"/>
              </a:defRPr>
            </a:pPr>
            <a:r>
              <a:t>Resposta ao case  ·  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3891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C41950"/>
                </a:solidFill>
                <a:latin typeface="Noto Sans"/>
              </a:defRPr>
            </a:pPr>
            <a:r>
              <a:t>O QUE JÁ RODA · VISÃO DE GESTÃO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972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5191A"/>
                </a:solidFill>
                <a:latin typeface="Noto Sans"/>
              </a:defRPr>
            </a:pPr>
            <a:r>
              <a:t>Pendências com dono. Decisões com rastro.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6362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76A"/>
                </a:solidFill>
                <a:latin typeface="Noto Sans"/>
              </a:defRPr>
            </a:pPr>
            <a:r>
              <a:t>Contagem desta amostra; não é volume do mês nem caixa certificado.</a:t>
            </a:r>
          </a:p>
        </p:txBody>
      </p:sp>
      <p:pic>
        <p:nvPicPr>
          <p:cNvPr id="5" name="Picture 4" descr="vantara-sho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65960"/>
            <a:ext cx="10927080" cy="33337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623560"/>
            <a:ext cx="107899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5191A"/>
                </a:solidFill>
                <a:latin typeface="Noto Sans"/>
              </a:defRPr>
            </a:pPr>
            <a:r>
              <a:t>Tipo  →  prioridade  →  responsável  →  tempo em aberto. Cada grupo leva à fila e ao dossiê.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556248"/>
            <a:ext cx="36576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C41950"/>
                </a:solidFill>
                <a:latin typeface="Noto Sans"/>
              </a:defRPr>
            </a:pPr>
            <a:r>
              <a:t>VANTARA / AI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652881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717778"/>
                </a:solidFill>
                <a:latin typeface="Noto Sans"/>
              </a:defRPr>
            </a:pPr>
            <a:r>
              <a:t>Captura da aplicação local; amostra sintética de julho/2026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547104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17778"/>
                </a:solidFill>
                <a:latin typeface="Noto Sans"/>
              </a:defRPr>
            </a:pPr>
            <a:r>
              <a:t>Resposta ao case  ·  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3891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C41950"/>
                </a:solidFill>
                <a:latin typeface="Noto Sans"/>
              </a:defRPr>
            </a:pPr>
            <a:r>
              <a:t>UM CASO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608076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5191A"/>
                </a:solidFill>
                <a:latin typeface="Noto Sans"/>
              </a:defRPr>
            </a:pPr>
            <a:r>
              <a:t>NF 104560: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5191A"/>
                </a:solidFill>
                <a:latin typeface="Noto Sans"/>
              </a:defRPr>
            </a:pPr>
            <a:r>
              <a:t>crédito não é quitação.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65376"/>
            <a:ext cx="47548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41950"/>
                </a:solidFill>
                <a:latin typeface="Noto Sans"/>
              </a:defRPr>
            </a:pPr>
            <a:r>
              <a:t>R$ 125 mil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4846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5191A"/>
                </a:solidFill>
                <a:latin typeface="Noto Sans"/>
              </a:defRPr>
            </a:pPr>
            <a:r>
              <a:t>Título aberto no Protheus, linha 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47548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41950"/>
                </a:solidFill>
                <a:latin typeface="Noto Sans"/>
              </a:defRPr>
            </a:pPr>
            <a:r>
              <a:t>R$ 62,5 mil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94176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5191A"/>
                </a:solidFill>
                <a:latin typeface="Noto Sans"/>
              </a:defRPr>
            </a:pPr>
            <a:r>
              <a:t>Crédito do extrato, linha 8, com referência documental.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9704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C41950"/>
                </a:solidFill>
                <a:latin typeface="Noto Sans"/>
              </a:defRPr>
            </a:pPr>
            <a:r>
              <a:t>R$ 3,4 mil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92624"/>
            <a:ext cx="45720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91A"/>
                </a:solidFill>
                <a:latin typeface="Noto Sans"/>
              </a:defRPr>
            </a:pPr>
            <a:r>
              <a:t>PIX da linha 17: só candidato; nenhuma atribuição automática.</a:t>
            </a:r>
          </a:p>
        </p:txBody>
      </p:sp>
      <p:pic>
        <p:nvPicPr>
          <p:cNvPr id="10" name="Picture 9" descr="vantara-slide-invoic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1069848"/>
            <a:ext cx="3877056" cy="5303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" y="5833872"/>
            <a:ext cx="52120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191A"/>
                </a:solidFill>
                <a:latin typeface="Noto Sans"/>
              </a:defRPr>
            </a:pPr>
            <a:r>
              <a:t>Conferir baixa no ERP antes de afirmar recebimento.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556248"/>
            <a:ext cx="36576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C41950"/>
                </a:solidFill>
                <a:latin typeface="Noto Sans"/>
              </a:defRPr>
            </a:pPr>
            <a:r>
              <a:t>VANTARA / AI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652881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717778"/>
                </a:solidFill>
                <a:latin typeface="Noto Sans"/>
              </a:defRPr>
            </a:pPr>
            <a:r>
              <a:t>Protheus:8 · extrato:8 e :17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547104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17778"/>
                </a:solidFill>
                <a:latin typeface="Noto Sans"/>
              </a:defRPr>
            </a:pPr>
            <a:r>
              <a:t>Resposta ao case  ·  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419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75488"/>
            <a:ext cx="10058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 REGRA DE SEGURANÇA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965960"/>
            <a:ext cx="1106424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Noto Sans"/>
              </a:defRPr>
            </a:pPr>
            <a:r>
              <a:t>Vínculo ≠ quitação.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Noto Sans"/>
              </a:defRPr>
            </a:pPr>
            <a:r>
              <a:t>Candidato ≠ pagamento.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84064"/>
            <a:ext cx="1005840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Noto Sans"/>
              </a:defRPr>
            </a:pPr>
            <a:r>
              <a:t>A automação útil sabe quando parar.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56248"/>
            <a:ext cx="36576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Noto Sans"/>
              </a:defRPr>
            </a:pPr>
            <a:r>
              <a:t>VANTARA / AI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800" y="6547104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7BBBC"/>
                </a:solidFill>
                <a:latin typeface="Noto Sans"/>
              </a:defRPr>
            </a:pPr>
            <a:r>
              <a:t>Resposta ao case  ·  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3891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C41950"/>
                </a:solidFill>
                <a:latin typeface="Noto Sans"/>
              </a:defRPr>
            </a:pPr>
            <a:r>
              <a:t>ONDE A REGRA NÃO RESOLVE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972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5191A"/>
                </a:solidFill>
                <a:latin typeface="Noto Sans"/>
              </a:defRPr>
            </a:pPr>
            <a:r>
              <a:t>Um PIX. Dois títulos possíveis. Zero baixa.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C41950"/>
                </a:solidFill>
                <a:latin typeface="Noto Sans"/>
              </a:defRPr>
            </a:pPr>
            <a:r>
              <a:t>R$ 3.400,00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05456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5191A"/>
                </a:solidFill>
                <a:latin typeface="Noto Sans"/>
              </a:defRPr>
            </a:pPr>
            <a:r>
              <a:t>Banco · linha 17 · 29/07/2026.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73552"/>
            <a:ext cx="4709160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5191A"/>
                </a:solidFill>
                <a:latin typeface="Noto Sans"/>
              </a:defRPr>
            </a:pPr>
            <a:r>
              <a:t>A NF 104560 (Protheus) coincide pelo nome; FAT-2026-0335 (Omie) pelo nome e valor.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08576"/>
            <a:ext cx="473659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5191A"/>
                </a:solidFill>
                <a:latin typeface="Noto Sans"/>
              </a:defRPr>
            </a:pPr>
            <a:r>
              <a:t>Próxima ação: pedir referência ou comprovante. Se não vier prova, marcar inconclusivo.</a:t>
            </a:r>
          </a:p>
        </p:txBody>
      </p:sp>
      <p:pic>
        <p:nvPicPr>
          <p:cNvPr id="8" name="Picture 7" descr="vantara-slide-pix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44752"/>
            <a:ext cx="5422392" cy="4142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98464" y="5678424"/>
            <a:ext cx="52120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676A"/>
                </a:solidFill>
                <a:latin typeface="Noto Sans"/>
              </a:defRPr>
            </a:pPr>
            <a:r>
              <a:t>A IA pode preparar um rascunho editável; não envia mensagem.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556248"/>
            <a:ext cx="36576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C41950"/>
                </a:solidFill>
                <a:latin typeface="Noto Sans"/>
              </a:defRPr>
            </a:pPr>
            <a:r>
              <a:t>VANTARA / AI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652881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717778"/>
                </a:solidFill>
                <a:latin typeface="Noto Sans"/>
              </a:defRPr>
            </a:pPr>
            <a:r>
              <a:t>Extrato:17 · Protheus:8 · Omie:4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6547104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17778"/>
                </a:solidFill>
                <a:latin typeface="Noto Sans"/>
              </a:defRPr>
            </a:pPr>
            <a:r>
              <a:t>Resposta ao case  ·  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3891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C41950"/>
                </a:solidFill>
                <a:latin typeface="Noto Sans"/>
              </a:defRPr>
            </a:pPr>
            <a:r>
              <a:t>AGENTE PROPÕE · ANALISTA 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972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5191A"/>
                </a:solidFill>
                <a:latin typeface="Noto Sans"/>
              </a:defRPr>
            </a:pPr>
            <a:r>
              <a:t>A decisão tem responsável e rastro.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1950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" y="1911095"/>
            <a:ext cx="48828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5191A"/>
                </a:solidFill>
                <a:latin typeface="Noto Sans"/>
              </a:defRPr>
            </a:pPr>
            <a:r>
              <a:t>Atribuir responsável.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1950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9032" y="2779776"/>
            <a:ext cx="4882896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5191A"/>
                </a:solidFill>
                <a:latin typeface="Noto Sans"/>
              </a:defRPr>
            </a:pPr>
            <a:r>
              <a:t>Registrar evidência e decisão.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75887"/>
            <a:ext cx="594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1950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3712463"/>
            <a:ext cx="48828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5191A"/>
                </a:solidFill>
                <a:latin typeface="Noto Sans"/>
              </a:defRPr>
            </a:pPr>
            <a:r>
              <a:t>Encerrar ou devolver à fila.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36592"/>
            <a:ext cx="542239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4901184"/>
            <a:ext cx="5010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191A"/>
                </a:solidFill>
                <a:latin typeface="Noto Sans"/>
              </a:defRPr>
            </a:pPr>
            <a:r>
              <a:t>Encerramento = revisão concluída.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528523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676A"/>
                </a:solidFill>
                <a:latin typeface="Noto Sans"/>
              </a:defRPr>
            </a:pPr>
            <a:r>
              <a:t>Não é baixa, aprovação nem quitação.</a:t>
            </a:r>
          </a:p>
        </p:txBody>
      </p:sp>
      <p:pic>
        <p:nvPicPr>
          <p:cNvPr id="13" name="Picture 12" descr="vantara-slide-decision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1508760"/>
            <a:ext cx="4187952" cy="45079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2648" y="6556248"/>
            <a:ext cx="36576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C41950"/>
                </a:solidFill>
                <a:latin typeface="Noto Sans"/>
              </a:defRPr>
            </a:pPr>
            <a:r>
              <a:t>VANTARA / AI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652881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717778"/>
                </a:solidFill>
                <a:latin typeface="Noto Sans"/>
              </a:defRPr>
            </a:pPr>
            <a:r>
              <a:t>Captura da fila e formulário 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6547104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17778"/>
                </a:solidFill>
                <a:latin typeface="Noto Sans"/>
              </a:defRPr>
            </a:pPr>
            <a:r>
              <a:t>Resposta ao case  ·  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3891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C41950"/>
                </a:solidFill>
                <a:latin typeface="Noto Sans"/>
              </a:defRPr>
            </a:pPr>
            <a:r>
              <a:t>PARA O CFO · E PARA A ADOÇÃO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972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5191A"/>
                </a:solidFill>
                <a:latin typeface="Noto Sans"/>
              </a:defRPr>
            </a:pPr>
            <a:r>
              <a:t>Um painel de trabalho e risco sob revisão.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63624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76A"/>
                </a:solidFill>
                <a:latin typeface="Noto Sans"/>
              </a:defRPr>
            </a:pPr>
            <a:r>
              <a:t>Não substitui o fechamento nem inventa ROI para esta amostra.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2331720"/>
            <a:ext cx="3456432" cy="2761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3816" y="2642616"/>
            <a:ext cx="512064" cy="59436"/>
          </a:xfrm>
          <a:prstGeom prst="rect">
            <a:avLst/>
          </a:prstGeom>
          <a:solidFill>
            <a:srgbClr val="C41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862072"/>
            <a:ext cx="29809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5191A"/>
                </a:solidFill>
                <a:latin typeface="Noto Sans"/>
              </a:defRPr>
            </a:pPr>
            <a:r>
              <a:t>PENDÊNCIAS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3584448"/>
            <a:ext cx="296265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0676A"/>
                </a:solidFill>
                <a:latin typeface="Noto Sans"/>
              </a:defRPr>
            </a:pPr>
            <a:r>
              <a:t>Por situação, prioridade, responsável e idade da fila.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331720"/>
            <a:ext cx="3456432" cy="2761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62855" y="2642616"/>
            <a:ext cx="512064" cy="59436"/>
          </a:xfrm>
          <a:prstGeom prst="rect">
            <a:avLst/>
          </a:prstGeom>
          <a:solidFill>
            <a:srgbClr val="C41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2862072"/>
            <a:ext cx="29809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5191A"/>
                </a:solidFill>
                <a:latin typeface="Noto Sans"/>
              </a:defRPr>
            </a:pPr>
            <a:r>
              <a:t>PROVA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3584448"/>
            <a:ext cx="296265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0676A"/>
                </a:solidFill>
                <a:latin typeface="Noto Sans"/>
              </a:defRPr>
            </a:pPr>
            <a:r>
              <a:t>Clique em cada número para ver linhas de origem e próximos passos.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0727" y="2331720"/>
            <a:ext cx="3456432" cy="2761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11896" y="2642616"/>
            <a:ext cx="512064" cy="59436"/>
          </a:xfrm>
          <a:prstGeom prst="rect">
            <a:avLst/>
          </a:prstGeom>
          <a:solidFill>
            <a:srgbClr val="C41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2862072"/>
            <a:ext cx="29809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5191A"/>
                </a:solidFill>
                <a:latin typeface="Noto Sans"/>
              </a:defRPr>
            </a:pPr>
            <a:r>
              <a:t>COMPARAÇÃO JUSTA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3584448"/>
            <a:ext cx="296265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0676A"/>
                </a:solidFill>
                <a:latin typeface="Noto Sans"/>
              </a:defRPr>
            </a:pPr>
            <a:r>
              <a:t>Rodar os mesmos casos na IA anterior e medir tempo, atribuições indevidas e evidência.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50408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5191A"/>
                </a:solidFill>
                <a:latin typeface="Noto Sans"/>
              </a:defRPr>
            </a:pPr>
            <a:r>
              <a:t>Diferença demonstrada: regra auditável → interpretação contextual → decisão humana registrada.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556248"/>
            <a:ext cx="36576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C41950"/>
                </a:solidFill>
                <a:latin typeface="Noto Sans"/>
              </a:defRPr>
            </a:pPr>
            <a:r>
              <a:t>VANTARA / AI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652881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717778"/>
                </a:solidFill>
                <a:latin typeface="Noto Sans"/>
              </a:defRPr>
            </a:pPr>
            <a:r>
              <a:t>Ferramenta anterior não usada: fala do CFO no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6547104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17778"/>
                </a:solidFill>
                <a:latin typeface="Noto Sans"/>
              </a:defRPr>
            </a:pPr>
            <a:r>
              <a:t>Resposta ao case  ·  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3891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C41950"/>
                </a:solidFill>
                <a:latin typeface="Noto Sans"/>
              </a:defRPr>
            </a:pPr>
            <a:r>
              <a:t>O LIMITE TÉCNICO · SEM VENDER UMA FICÇÃO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972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5191A"/>
                </a:solidFill>
                <a:latin typeface="Noto Sans"/>
              </a:defRPr>
            </a:pPr>
            <a:r>
              <a:t>A demo local não equivale a “nada sai”.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828800"/>
            <a:ext cx="7278624" cy="31363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048256"/>
            <a:ext cx="6172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41950"/>
                </a:solidFill>
                <a:latin typeface="Noto Sans"/>
              </a:defRPr>
            </a:pPr>
            <a:r>
              <a:t>INFRAESTRUTURA VANTARA · DEMO LOCAL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2624328"/>
            <a:ext cx="1938528" cy="1298448"/>
          </a:xfrm>
          <a:prstGeom prst="rect">
            <a:avLst/>
          </a:prstGeom>
          <a:solidFill>
            <a:srgbClr val="F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852928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5191A"/>
                </a:solidFill>
                <a:latin typeface="Noto Sans"/>
              </a:defRPr>
            </a:pPr>
            <a:r>
              <a:t>Exports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32461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0676A"/>
                </a:solidFill>
                <a:latin typeface="Noto Sans"/>
              </a:defRPr>
            </a:pPr>
            <a:r>
              <a:t>originais do pack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6976" y="2624328"/>
            <a:ext cx="1938528" cy="1298448"/>
          </a:xfrm>
          <a:prstGeom prst="rect">
            <a:avLst/>
          </a:prstGeom>
          <a:solidFill>
            <a:srgbClr val="F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2852928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5191A"/>
                </a:solidFill>
                <a:latin typeface="Noto Sans"/>
              </a:defRPr>
            </a:pPr>
            <a:r>
              <a:t>Floci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32461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0676A"/>
                </a:solidFill>
                <a:latin typeface="Noto Sans"/>
              </a:defRPr>
            </a:pPr>
            <a:r>
              <a:t>armazenamento local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41264" y="2624328"/>
            <a:ext cx="1938528" cy="1298448"/>
          </a:xfrm>
          <a:prstGeom prst="rect">
            <a:avLst/>
          </a:prstGeom>
          <a:solidFill>
            <a:srgbClr val="F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2852928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5191A"/>
                </a:solidFill>
                <a:latin typeface="Noto Sans"/>
              </a:defRPr>
            </a:pPr>
            <a:r>
              <a:t>API / tela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32461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0676A"/>
                </a:solidFill>
                <a:latin typeface="Noto Sans"/>
              </a:defRPr>
            </a:pPr>
            <a:r>
              <a:t>dossiê e fila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2916936"/>
            <a:ext cx="27432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1950"/>
                </a:solidFill>
                <a:latin typeface="Noto San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2916936"/>
            <a:ext cx="27432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C41950"/>
                </a:solidFill>
                <a:latin typeface="Noto San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242816"/>
            <a:ext cx="6400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91A"/>
                </a:solidFill>
                <a:latin typeface="Noto Sans"/>
              </a:defRPr>
            </a:pPr>
            <a:r>
              <a:t>SQLite local: estado e histórico das decisões humanas.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57031" y="1828800"/>
            <a:ext cx="3273552" cy="3136392"/>
          </a:xfrm>
          <a:prstGeom prst="rect">
            <a:avLst/>
          </a:prstGeom>
          <a:solidFill>
            <a:srgbClr val="FD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3064" y="2066543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41950"/>
                </a:solidFill>
                <a:latin typeface="Noto Sans"/>
              </a:defRPr>
            </a:pPr>
            <a:r>
              <a:t>FORA DA EMPRESA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2560320"/>
            <a:ext cx="26791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5191A"/>
                </a:solidFill>
                <a:latin typeface="Noto Sans"/>
              </a:defRPr>
            </a:pPr>
            <a:r>
              <a:t>OpenAI externa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3246120"/>
            <a:ext cx="2670048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5191A"/>
                </a:solidFill>
                <a:latin typeface="Noto Sans"/>
              </a:defRPr>
            </a:pPr>
            <a:r>
              <a:t>A demo envia contexto e trechos sintéticos à IA. Não atende à exigência de inferência privada.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12664"/>
            <a:ext cx="10972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5191A"/>
                </a:solidFill>
                <a:latin typeface="Noto Sans"/>
              </a:defRPr>
            </a:pPr>
            <a:r>
              <a:t>Para dados reais: inferência privada + identidade e acesso aprovados pela TI. Protheus: somente leitura/exportação por 90 dias. Barte: exceção com liderança.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6556248"/>
            <a:ext cx="36576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C41950"/>
                </a:solidFill>
                <a:latin typeface="Noto Sans"/>
              </a:defRPr>
            </a:pPr>
            <a:r>
              <a:t>VANTARA / AI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652881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70" b="0">
                <a:solidFill>
                  <a:srgbClr val="717778"/>
                </a:solidFill>
                <a:latin typeface="Noto Sans"/>
              </a:defRPr>
            </a:pPr>
            <a:r>
              <a:t>Limites de TI e Barte: Case Vantara.pdf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6547104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17778"/>
                </a:solidFill>
                <a:latin typeface="Noto Sans"/>
              </a:defRPr>
            </a:pPr>
            <a:r>
              <a:t>Resposta ao case  ·  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3891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FFFFFF"/>
                </a:solidFill>
                <a:latin typeface="Noto Sans"/>
              </a:defRPr>
            </a:pPr>
            <a:r>
              <a:t>A DECISÃO PEDIDA AO 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655064"/>
            <a:ext cx="10927080" cy="166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Noto Sans"/>
              </a:defRPr>
            </a:pPr>
            <a:r>
              <a:t>Aposte no fluxo.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Noto Sans"/>
              </a:defRPr>
            </a:pPr>
            <a:r>
              <a:t>Não na mágica da 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" y="3977639"/>
            <a:ext cx="713232" cy="47548"/>
          </a:xfrm>
          <a:prstGeom prst="rect">
            <a:avLst/>
          </a:prstGeom>
          <a:solidFill>
            <a:srgbClr val="C41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4416552"/>
            <a:ext cx="10927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Noto Sans"/>
              </a:defRPr>
            </a:pPr>
            <a:r>
              <a:t>Piloto de 30 dias com exports, leitura aprovada e revisão humana.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5074920"/>
            <a:ext cx="10744200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6CBCC"/>
                </a:solidFill>
                <a:latin typeface="Noto Sans"/>
              </a:defRPr>
            </a:pPr>
            <a:r>
              <a:t>Gatilho para dados reais: inferência privada e controles de identidade/acesso. Comparar a ferramenta anterior nos mesmos casos antes de prometer impacto.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556248"/>
            <a:ext cx="36576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Noto Sans"/>
              </a:defRPr>
            </a:pPr>
            <a:r>
              <a:t>VANTARA / AI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6547104"/>
            <a:ext cx="1773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B7BBBC"/>
                </a:solidFill>
                <a:latin typeface="Noto Sans"/>
              </a:defRPr>
            </a:pPr>
            <a:r>
              <a:t>Resposta ao case  ·  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